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CF5"/>
                </a:solidFill>
              </a:defRPr>
            </a:pPr>
            <a:r>
              <a:t>●  BENEFICIO CORPORATIVO DE BIENESTAR</a:t>
            </a:r>
          </a:p>
          <a:p>
            <a:pPr>
              <a:spcBef>
                <a:spcPts val="600"/>
              </a:spcBef>
              <a:defRPr sz="5600" b="1">
                <a:solidFill>
                  <a:srgbClr val="FFFFFF"/>
                </a:solidFill>
              </a:defRPr>
            </a:pPr>
            <a:r>
              <a:t>CompanyCare</a:t>
            </a:r>
          </a:p>
          <a:p>
            <a:pPr>
              <a:spcBef>
                <a:spcPts val="1600"/>
              </a:spcBef>
              <a:defRPr sz="1600">
                <a:solidFill>
                  <a:srgbClr val="CBD5E1"/>
                </a:solidFill>
              </a:defRPr>
            </a:pPr>
            <a:r>
              <a:t>Plataforma de cuidado de adultos mayores para equipos que importan.</a:t>
            </a:r>
            <a:br/>
            <a:r>
              <a:t>Conectamos colaboradores con expertos en gerontología y convenios exclusivos.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¿Por qué CompanyCare?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Millones de colaboradores cuidan a un familiar adulto mayor mientras trabajan.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Estrés del Cuidador</a:t>
            </a:r>
          </a:p>
          <a:p>
            <a:pPr>
              <a:spcBef>
                <a:spcPts val="1000"/>
              </a:spcBef>
              <a:defRPr sz="3600" b="1">
                <a:solidFill>
                  <a:srgbClr val="00A0C3"/>
                </a:solidFill>
              </a:defRPr>
            </a:pPr>
            <a:r>
              <a:t>73%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de los cuidadores reportan altos niveles de estrés que afectan su salud mental y desempeño laboral.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Ausentismo Laboral</a:t>
            </a:r>
          </a:p>
          <a:p>
            <a:pPr>
              <a:spcBef>
                <a:spcPts val="1000"/>
              </a:spcBef>
              <a:defRPr sz="3600" b="1">
                <a:solidFill>
                  <a:srgbClr val="00A0C3"/>
                </a:solidFill>
              </a:defRPr>
            </a:pPr>
            <a:r>
              <a:t>6.6 hrs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semanales pierden los colaboradores en promedio gestionando el cuidado de su familiar mayor.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Falta de Orientación</a:t>
            </a:r>
          </a:p>
          <a:p>
            <a:pPr>
              <a:spcBef>
                <a:spcPts val="1000"/>
              </a:spcBef>
              <a:defRPr sz="3600" b="1">
                <a:solidFill>
                  <a:srgbClr val="00A0C3"/>
                </a:solidFill>
              </a:defRPr>
            </a:pPr>
            <a:r>
              <a:t>80%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no sabe dónde buscar residencias, cuidadores o apoyo profesional de confianza.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¿Quiénes usan la plataforma?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CompanyCare conecta 4 roles en un ecosistema integrado.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23C4A"/>
                </a:solidFill>
              </a:defRPr>
            </a:pPr>
            <a:r>
              <a:t>Colaborador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Empleado que cuida a un adulto mayor. Accede al beneficio corporativo.   |   Acceso: Dashboard, Asesoría, Proveedores, Recursos, SeniorClub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90672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A0C3"/>
                </a:solidFill>
              </a:defRPr>
            </a:pPr>
            <a:r>
              <a:t>Care Expert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Especialista en gerontología y trabajo social que asesora a los colaboradores.   |   Acceso: Inbox de casos, Chat clínico, Evolución del familiar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9664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23C4A"/>
                </a:solidFill>
              </a:defRPr>
            </a:pPr>
            <a:r>
              <a:t>RRHH / Admin Empresa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Administrador de la empresa que gestiona empleados y monitorea casos.   |   Acceso: Panel de empresa, Monitoreo de bienestar, Vouchers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48656"/>
            <a:ext cx="10698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A0C3"/>
                </a:solidFill>
              </a:defRPr>
            </a:pPr>
            <a:r>
              <a:t>Super Admin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</a:defRPr>
            </a:pPr>
            <a:r>
              <a:t>Administrador global de la plataforma CompanyCare / Senior Advisor.   |   Acceso: ERP interno, Gestión multi-tenant, Facturación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FLUJO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¿Cómo funciona paso a paso?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Desde la activación del beneficio hasta el monitoreo continuo de RRHH.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0C3"/>
                </a:solidFill>
              </a:defRPr>
            </a:pPr>
            <a:r>
              <a:t>PASO 1</a:t>
            </a:r>
          </a:p>
          <a:p>
            <a:pPr>
              <a:spcBef>
                <a:spcPts val="600"/>
              </a:spcBef>
              <a:defRPr sz="1600" b="1">
                <a:solidFill>
                  <a:srgbClr val="123C4A"/>
                </a:solidFill>
              </a:defRPr>
            </a:pPr>
            <a:r>
              <a:t>Empresa Activa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La empresa se registra, elige su plan y el Admin invita a sus colaboradores al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0C3"/>
                </a:solidFill>
              </a:defRPr>
            </a:pPr>
            <a:r>
              <a:t>PASO 2</a:t>
            </a:r>
          </a:p>
          <a:p>
            <a:pPr>
              <a:spcBef>
                <a:spcPts val="600"/>
              </a:spcBef>
              <a:defRPr sz="1600" b="1">
                <a:solidFill>
                  <a:srgbClr val="123C4A"/>
                </a:solidFill>
              </a:defRPr>
            </a:pPr>
            <a:r>
              <a:t>Colaborador Ingresa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El empleado accede y completa su ficha de cuidado con los datos de su familiar mayor.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0C3"/>
                </a:solidFill>
              </a:defRPr>
            </a:pPr>
            <a:r>
              <a:t>PASO 3</a:t>
            </a:r>
          </a:p>
          <a:p>
            <a:pPr>
              <a:spcBef>
                <a:spcPts val="600"/>
              </a:spcBef>
              <a:defRPr sz="1600" b="1">
                <a:solidFill>
                  <a:srgbClr val="123C4A"/>
                </a:solidFill>
              </a:defRPr>
            </a:pPr>
            <a:r>
              <a:t>Care Expert Asesora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El experto toma el caso, realiza videollamada, chat o llamada y registra la evolución.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0C3"/>
                </a:solidFill>
              </a:defRPr>
            </a:pPr>
            <a:r>
              <a:t>PASO 4</a:t>
            </a:r>
          </a:p>
          <a:p>
            <a:pPr>
              <a:spcBef>
                <a:spcPts val="600"/>
              </a:spcBef>
              <a:defRPr sz="1600" b="1">
                <a:solidFill>
                  <a:srgbClr val="123C4A"/>
                </a:solidFill>
              </a:defRPr>
            </a:pPr>
            <a:r>
              <a:t>RRHH Monitorea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El admin de empresa ve en tiempo real el estado de bienestar de todos sus colaboradores.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PASO 2 · COLABORADOR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Centro de Control del Colaborador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El empleado ve de un vistazo el estado de su familiar y sus solicitudes activas.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Funcionalidades Clave para el Colaborador: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Estado de salud del familiar actualizado en tiempo real por el Care Expert ('Estable', 'Mejorando', 'Sin cambios').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Mi Ficha de Cuidado: Formulario único para registrar condiciones médicas, dependencia, previsión y red de apoyo.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Historial de evolución completo con notas del especialista y fechas de próximo seguimiento.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Solicitudes activas y agendamiento de consultas por Videollamada (Google Meet), Llamada o Chat.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Acceso a SeniorClub: Descuentos exclusivos en salud, telemedicina, ayudas técnicas y vestuario adaptado.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PASO 3 · ASESORÍA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Conexión con Care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El colaborador agenda una consulta con un especialista por el canal que prefiera.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Videollamada</a:t>
            </a:r>
          </a:p>
          <a:p>
            <a:pPr>
              <a:spcBef>
                <a:spcPts val="600"/>
              </a:spcBef>
              <a:defRPr sz="1100" b="1">
                <a:solidFill>
                  <a:srgbClr val="00A0C3"/>
                </a:solidFill>
              </a:defRPr>
            </a:pPr>
            <a:r>
              <a:t>● Google Meet automático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Reunión cara a cara por videoconferencia generada instantáneamente en la plataforma.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Llamada Telefónica</a:t>
            </a:r>
          </a:p>
          <a:p>
            <a:pPr>
              <a:spcBef>
                <a:spcPts val="600"/>
              </a:spcBef>
              <a:defRPr sz="1100" b="1">
                <a:solidFill>
                  <a:srgbClr val="00A0C3"/>
                </a:solidFill>
              </a:defRPr>
            </a:pPr>
            <a:r>
              <a:t>● Directo por voz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Contacto telefónico inmediato para resolver dudas urgentes sin necesidad de conexión a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Chat en Tiempo Real</a:t>
            </a:r>
          </a:p>
          <a:p>
            <a:pPr>
              <a:spcBef>
                <a:spcPts val="600"/>
              </a:spcBef>
              <a:defRPr sz="1100" b="1">
                <a:solidFill>
                  <a:srgbClr val="00A0C3"/>
                </a:solidFill>
              </a:defRPr>
            </a:pPr>
            <a:r>
              <a:t>● Orientación continua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Atención escrita fluida con historial de conversación y envío de documentos relevantes.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CARE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Espacio Clínico del Care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El experto gestiona todos sus casos desde una suite profesional unificada.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Herramientas de Trabajo del Care Expert: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Inbox de Casos Activos con indicadores de SLA (&gt;24h crítico, &gt;6h advertencia).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Chat directo con el cliente + pestañas de Notas Internas Confidenciales.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Asignación instantánea de casos sin asignar ('Tomar caso') con auto-asociación de citas.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Formulario de Evolución del Familiar: Estado (Estable, Mejorando, Empeorando), Prioridad y fecha de próximo seguimiento.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✔ Ficha contextual completa del colaborador y su adulto mayor (RUT, diagnóstico, nivel de dependencia, escaleras/rampas).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Panel de Administración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Gestión integral de empleados, vouchers, suscripciones y fichas de cuidado.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Empleados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Invitar por email, asignar roles (empleado, manager, RRHH) y desvincular.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Vouchers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Crear cupones de descuento en porcentaje o monto fijo para servicios de cuidado.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Suscripciones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Planes Plataforma y Acompañamiento integrados con Mercado Pago.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031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Fichas de Cuidado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Revisar las fichas completadas por los colaboradores de la empresa.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PASO 4 · RRHH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Monitoreo de Bienestar en Tiempo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RRHH sigue el estado de salud de los familiares en un dashboard aislado por empresa.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23C4A"/>
                </a:solidFill>
              </a:defRPr>
            </a:pPr>
            <a:r>
              <a:t>Características del Panel de Monitoreo RRHH: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🔒 Aislamiento estricto por empresa: RRHH solo ve colaboradores de su propia empresa (RLS en Supabase).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🚨 Banner de Alerta Urgente para visualizar casos marcados con prioridad urgente.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📊 Filtros rápidos por estado de salud del familiar ('Estable', 'Mejorando', 'Sin cambios', 'Atención req.', 'Empeorando').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🔎 Filas expandibles con detalle completo: última nota del Care Expert, canal, experto asignado y fecha de próximo seguimiento.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⚡ Búsqueda instantánea por nombre de colaborador, tema o contenido de notas.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Seguridad y Privacidad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Múltiples capas que garantizan que cada empresa solo acceda a sus propios datos.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Row Level Security (RLS)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Políticas en Supabase que aíslan filas a nivel de base de datos usando company_id. Imposible leer datos de otra empresa.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Filtro por Membresía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La app valida company_members antes de consultar care_requests, trayendo solo colaboradores de la misma empresa.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10312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Guards de Autenticación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Control de acceso por roles (authGuard, internalAdminGuard) que restringen rutas según permisos.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PROGRAMA DE BENEFICIOS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SeniorClub — Convenios Exclusivos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Convenios exclusivos para el bienestar de nuestros mayores con aliados verificados.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0C2630"/>
          </a:solidFill>
          <a:ln>
            <a:solidFill>
              <a:srgbClr val="00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CF5"/>
                </a:solidFill>
              </a:defRPr>
            </a:pPr>
            <a:r>
              <a:t>SeniorClub  |  Convenios exclusivos para el bienestar de nuestros mayores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Accede a descuentos y servicios preferenciales con nuestros aliados verificados en Chile.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8+ Aliados Verificados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Empresas seleccionadas que ofrecen productos y servicios para adultos mayores y cuidadores.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0040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10% a 30% Descuento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Descuentos preferenciales en salud, psicogerontología, telemedicina, vestuario adaptado y hogar.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200400"/>
            <a:ext cx="329184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23C4A"/>
                </a:solidFill>
              </a:defRPr>
            </a:pPr>
            <a:r>
              <a:t>Obtención en 1 Clic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Los colaboradores obtienen su código de descuento directamente desde la plataforma con un solo clic.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CF5"/>
                </a:solidFill>
              </a:defRPr>
            </a:pPr>
            <a:r>
              <a:t>CONVENIOS SENIORCLUB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Nuestros Convenios Activos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Descuentos y beneficios preferenciales para la comunidad de SeniorAdvisor y CompanyCare.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ListaMente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10% Dcto. Exclusivo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Estimulación cognitiva y salud mental. Cupón en checkout de listamente.com.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Psicóloga B. Alvarado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15% Dcto. ($30.000)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Psicogerontología y apoyo en duelo o sobrecarga del cuidador. Ref $40.000.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Quimun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30% Dcto. / 3 Meses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Software para residencias. Carga masiva, costo $0 implementación y soporte.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Promsa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15% Dcto. Toda la Web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Ayudas técnicas, movilidad y confort integral para pacientes y cuidadores.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Quida (Planes Full)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10% Dcto. (Viña del Mar)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Monitoreo discreto con sensores en el hogar. Sin cámaras, con dignidad.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1148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Bilbi Vístete Fácil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20% Dcto. Todo Catálogo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Vestuario adaptado diseñado para facilitar el vestir diario en personas mayores.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1148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Ducha Segura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15% Dcto. Adaptación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Modificación rápida de tinas a ducha a nivel de piso para prevenir caídas.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411480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23C4A"/>
                </a:solidFill>
              </a:defRPr>
            </a:pPr>
            <a:r>
              <a:t>Help Rescate Médicos</a:t>
            </a:r>
          </a:p>
          <a:p>
            <a:pPr>
              <a:spcBef>
                <a:spcPts val="200"/>
              </a:spcBef>
              <a:defRPr sz="1100" b="1">
                <a:solidFill>
                  <a:srgbClr val="00A0C3"/>
                </a:solidFill>
              </a:defRPr>
            </a:pPr>
            <a:r>
              <a:t>Desde $8.336/mes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Rescate médico 24/7, telemedicina y orientación. RM, Valparaíso, Biobío.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CF5"/>
                </a:solidFill>
              </a:defRPr>
            </a:pPr>
            <a:r>
              <a:t>●  RESUMEN Y PRÓXIMOS PASOS</a:t>
            </a:r>
          </a:p>
          <a:p>
            <a:pPr>
              <a:spcBef>
                <a:spcPts val="600"/>
              </a:spcBef>
              <a:defRPr sz="4800" b="1">
                <a:solidFill>
                  <a:srgbClr val="FFFFFF"/>
                </a:solidFill>
              </a:defRPr>
            </a:pPr>
            <a:r>
              <a:t>CompanyCare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Una plataforma completa que conecta empresas, colaboradores y expertos en gerontología</a:t>
            </a:r>
            <a:br/>
            <a:r>
              <a:t>para transformar el cuidado de adultos mayores en un beneficio corporativo medible y seguro.</a:t>
            </a:r>
          </a:p>
          <a:p>
            <a:pPr>
              <a:spcBef>
                <a:spcPts val="2400"/>
              </a:spcBef>
              <a:defRPr sz="1400" b="1">
                <a:solidFill>
                  <a:srgbClr val="00DCF5"/>
                </a:solidFill>
              </a:defRPr>
            </a:pPr>
            <a:r>
              <a:t>Contacto: contacto@companycare.cl  |  www.companycare.cl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